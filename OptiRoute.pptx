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gra" charset="1" panose="020000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15.png" Type="http://schemas.openxmlformats.org/officeDocument/2006/relationships/image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png" Type="http://schemas.openxmlformats.org/officeDocument/2006/relationships/image"/><Relationship Id="rId11" Target="../media/image15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54.png" Type="http://schemas.openxmlformats.org/officeDocument/2006/relationships/image"/><Relationship Id="rId9" Target="../media/image5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sv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42.png" Type="http://schemas.openxmlformats.org/officeDocument/2006/relationships/image"/><Relationship Id="rId7" Target="../media/image6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sv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5" y="0"/>
                </a:lnTo>
                <a:lnTo>
                  <a:pt x="1829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587650">
            <a:off x="1936548" y="1028700"/>
            <a:ext cx="14414904" cy="8229600"/>
          </a:xfrm>
          <a:custGeom>
            <a:avLst/>
            <a:gdLst/>
            <a:ahLst/>
            <a:cxnLst/>
            <a:rect r="r" b="b" t="t" l="l"/>
            <a:pathLst>
              <a:path h="8229600" w="14414904">
                <a:moveTo>
                  <a:pt x="0" y="0"/>
                </a:moveTo>
                <a:lnTo>
                  <a:pt x="14414904" y="0"/>
                </a:lnTo>
                <a:lnTo>
                  <a:pt x="144149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89654" y="2196116"/>
            <a:ext cx="12336470" cy="2947384"/>
            <a:chOff x="0" y="0"/>
            <a:chExt cx="16448627" cy="392984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247650"/>
              <a:ext cx="16448627" cy="2787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000"/>
                </a:lnSpc>
              </a:pPr>
              <a:r>
                <a:rPr lang="en-US" sz="12500">
                  <a:solidFill>
                    <a:srgbClr val="000000"/>
                  </a:solidFill>
                  <a:latin typeface="Mogra"/>
                  <a:ea typeface="Mogra"/>
                  <a:cs typeface="Mogra"/>
                  <a:sym typeface="Mogra"/>
                </a:rPr>
                <a:t>OptiRoute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637197"/>
              <a:ext cx="16448627" cy="1292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19191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A </a:t>
              </a:r>
              <a:r>
                <a:rPr lang="en-US" sz="2799" b="true">
                  <a:solidFill>
                    <a:srgbClr val="191919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multi-agent </a:t>
              </a:r>
              <a:r>
                <a:rPr lang="en-US" sz="2799">
                  <a:solidFill>
                    <a:srgbClr val="191919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travel architecture powered by the Cline SDK and deterministic routing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895353">
            <a:off x="15852245" y="1205783"/>
            <a:ext cx="1779735" cy="3087868"/>
          </a:xfrm>
          <a:custGeom>
            <a:avLst/>
            <a:gdLst/>
            <a:ahLst/>
            <a:cxnLst/>
            <a:rect r="r" b="b" t="t" l="l"/>
            <a:pathLst>
              <a:path h="3087868" w="1779735">
                <a:moveTo>
                  <a:pt x="0" y="0"/>
                </a:moveTo>
                <a:lnTo>
                  <a:pt x="1779735" y="0"/>
                </a:lnTo>
                <a:lnTo>
                  <a:pt x="1779735" y="3087868"/>
                </a:lnTo>
                <a:lnTo>
                  <a:pt x="0" y="30878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04970">
            <a:off x="2963486" y="7734853"/>
            <a:ext cx="3135980" cy="1699131"/>
          </a:xfrm>
          <a:custGeom>
            <a:avLst/>
            <a:gdLst/>
            <a:ahLst/>
            <a:cxnLst/>
            <a:rect r="r" b="b" t="t" l="l"/>
            <a:pathLst>
              <a:path h="1699131" w="3135980">
                <a:moveTo>
                  <a:pt x="0" y="0"/>
                </a:moveTo>
                <a:lnTo>
                  <a:pt x="3135980" y="0"/>
                </a:lnTo>
                <a:lnTo>
                  <a:pt x="3135980" y="1699131"/>
                </a:lnTo>
                <a:lnTo>
                  <a:pt x="0" y="16991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756843">
            <a:off x="456326" y="5620023"/>
            <a:ext cx="2690971" cy="2824492"/>
          </a:xfrm>
          <a:custGeom>
            <a:avLst/>
            <a:gdLst/>
            <a:ahLst/>
            <a:cxnLst/>
            <a:rect r="r" b="b" t="t" l="l"/>
            <a:pathLst>
              <a:path h="2824492" w="2690971">
                <a:moveTo>
                  <a:pt x="2690971" y="0"/>
                </a:moveTo>
                <a:lnTo>
                  <a:pt x="0" y="0"/>
                </a:lnTo>
                <a:lnTo>
                  <a:pt x="0" y="2824492"/>
                </a:lnTo>
                <a:lnTo>
                  <a:pt x="2690971" y="2824492"/>
                </a:lnTo>
                <a:lnTo>
                  <a:pt x="269097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633427">
            <a:off x="535967" y="8367037"/>
            <a:ext cx="1379735" cy="2102089"/>
          </a:xfrm>
          <a:custGeom>
            <a:avLst/>
            <a:gdLst/>
            <a:ahLst/>
            <a:cxnLst/>
            <a:rect r="r" b="b" t="t" l="l"/>
            <a:pathLst>
              <a:path h="2102089" w="1379735">
                <a:moveTo>
                  <a:pt x="0" y="0"/>
                </a:moveTo>
                <a:lnTo>
                  <a:pt x="1379734" y="0"/>
                </a:lnTo>
                <a:lnTo>
                  <a:pt x="1379734" y="2102089"/>
                </a:lnTo>
                <a:lnTo>
                  <a:pt x="0" y="2102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843346">
            <a:off x="12521198" y="-317288"/>
            <a:ext cx="1741810" cy="1817828"/>
          </a:xfrm>
          <a:custGeom>
            <a:avLst/>
            <a:gdLst/>
            <a:ahLst/>
            <a:cxnLst/>
            <a:rect r="r" b="b" t="t" l="l"/>
            <a:pathLst>
              <a:path h="1817828" w="1741810">
                <a:moveTo>
                  <a:pt x="0" y="0"/>
                </a:moveTo>
                <a:lnTo>
                  <a:pt x="1741810" y="0"/>
                </a:lnTo>
                <a:lnTo>
                  <a:pt x="1741810" y="1817828"/>
                </a:lnTo>
                <a:lnTo>
                  <a:pt x="0" y="18178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058879">
            <a:off x="12424677" y="1936562"/>
            <a:ext cx="1934852" cy="1934852"/>
          </a:xfrm>
          <a:custGeom>
            <a:avLst/>
            <a:gdLst/>
            <a:ahLst/>
            <a:cxnLst/>
            <a:rect r="r" b="b" t="t" l="l"/>
            <a:pathLst>
              <a:path h="1934852" w="1934852">
                <a:moveTo>
                  <a:pt x="0" y="0"/>
                </a:moveTo>
                <a:lnTo>
                  <a:pt x="1934852" y="0"/>
                </a:lnTo>
                <a:lnTo>
                  <a:pt x="1934852" y="1934851"/>
                </a:lnTo>
                <a:lnTo>
                  <a:pt x="0" y="193485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74631" y="5302039"/>
            <a:ext cx="12510041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Transf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orming natural language constraints into mathematically optimized, conflict-free itineraries.// 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9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2935" y="714670"/>
            <a:ext cx="15942130" cy="8857660"/>
          </a:xfrm>
          <a:custGeom>
            <a:avLst/>
            <a:gdLst/>
            <a:ahLst/>
            <a:cxnLst/>
            <a:rect r="r" b="b" t="t" l="l"/>
            <a:pathLst>
              <a:path h="8857660" w="15942130">
                <a:moveTo>
                  <a:pt x="0" y="0"/>
                </a:moveTo>
                <a:lnTo>
                  <a:pt x="15942130" y="0"/>
                </a:lnTo>
                <a:lnTo>
                  <a:pt x="15942130" y="8857660"/>
                </a:lnTo>
                <a:lnTo>
                  <a:pt x="0" y="885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1260" y="5781287"/>
            <a:ext cx="1403349" cy="1404230"/>
          </a:xfrm>
          <a:custGeom>
            <a:avLst/>
            <a:gdLst/>
            <a:ahLst/>
            <a:cxnLst/>
            <a:rect r="r" b="b" t="t" l="l"/>
            <a:pathLst>
              <a:path h="1404230" w="1403349">
                <a:moveTo>
                  <a:pt x="0" y="0"/>
                </a:moveTo>
                <a:lnTo>
                  <a:pt x="1403350" y="0"/>
                </a:lnTo>
                <a:lnTo>
                  <a:pt x="1403350" y="1404230"/>
                </a:lnTo>
                <a:lnTo>
                  <a:pt x="0" y="1404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1795" y="7709392"/>
            <a:ext cx="1493810" cy="1493810"/>
          </a:xfrm>
          <a:custGeom>
            <a:avLst/>
            <a:gdLst/>
            <a:ahLst/>
            <a:cxnLst/>
            <a:rect r="r" b="b" t="t" l="l"/>
            <a:pathLst>
              <a:path h="1493810" w="1493810">
                <a:moveTo>
                  <a:pt x="0" y="0"/>
                </a:moveTo>
                <a:lnTo>
                  <a:pt x="1493810" y="0"/>
                </a:lnTo>
                <a:lnTo>
                  <a:pt x="1493810" y="1493810"/>
                </a:lnTo>
                <a:lnTo>
                  <a:pt x="0" y="1493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6843" y="5846173"/>
            <a:ext cx="5492493" cy="5879129"/>
          </a:xfrm>
          <a:custGeom>
            <a:avLst/>
            <a:gdLst/>
            <a:ahLst/>
            <a:cxnLst/>
            <a:rect r="r" b="b" t="t" l="l"/>
            <a:pathLst>
              <a:path h="5879129" w="5492493">
                <a:moveTo>
                  <a:pt x="0" y="0"/>
                </a:moveTo>
                <a:lnTo>
                  <a:pt x="5492493" y="0"/>
                </a:lnTo>
                <a:lnTo>
                  <a:pt x="5492493" y="5879129"/>
                </a:lnTo>
                <a:lnTo>
                  <a:pt x="0" y="58791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24364" y="4276626"/>
            <a:ext cx="1519465" cy="1733748"/>
          </a:xfrm>
          <a:custGeom>
            <a:avLst/>
            <a:gdLst/>
            <a:ahLst/>
            <a:cxnLst/>
            <a:rect r="r" b="b" t="t" l="l"/>
            <a:pathLst>
              <a:path h="1733748" w="1519465">
                <a:moveTo>
                  <a:pt x="0" y="0"/>
                </a:moveTo>
                <a:lnTo>
                  <a:pt x="1519465" y="0"/>
                </a:lnTo>
                <a:lnTo>
                  <a:pt x="1519465" y="1733748"/>
                </a:lnTo>
                <a:lnTo>
                  <a:pt x="0" y="17337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60711" y="7042625"/>
            <a:ext cx="2627289" cy="2396149"/>
          </a:xfrm>
          <a:custGeom>
            <a:avLst/>
            <a:gdLst/>
            <a:ahLst/>
            <a:cxnLst/>
            <a:rect r="r" b="b" t="t" l="l"/>
            <a:pathLst>
              <a:path h="2396149" w="2627289">
                <a:moveTo>
                  <a:pt x="0" y="0"/>
                </a:moveTo>
                <a:lnTo>
                  <a:pt x="2627289" y="0"/>
                </a:lnTo>
                <a:lnTo>
                  <a:pt x="2627289" y="2396148"/>
                </a:lnTo>
                <a:lnTo>
                  <a:pt x="0" y="23961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585" t="-4562" r="-26916" b="-1356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6266" y="-140677"/>
            <a:ext cx="2835661" cy="2933840"/>
          </a:xfrm>
          <a:custGeom>
            <a:avLst/>
            <a:gdLst/>
            <a:ahLst/>
            <a:cxnLst/>
            <a:rect r="r" b="b" t="t" l="l"/>
            <a:pathLst>
              <a:path h="2933840" w="2835661">
                <a:moveTo>
                  <a:pt x="0" y="0"/>
                </a:moveTo>
                <a:lnTo>
                  <a:pt x="2835661" y="0"/>
                </a:lnTo>
                <a:lnTo>
                  <a:pt x="2835661" y="2933840"/>
                </a:lnTo>
                <a:lnTo>
                  <a:pt x="0" y="29338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36843" y="1253318"/>
            <a:ext cx="1435858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0"/>
              </a:lnSpc>
            </a:pPr>
            <a:r>
              <a:rPr lang="en-US" sz="4700">
                <a:solidFill>
                  <a:srgbClr val="191919"/>
                </a:solidFill>
                <a:latin typeface="Mogra"/>
                <a:ea typeface="Mogra"/>
                <a:cs typeface="Mogra"/>
                <a:sym typeface="Mogra"/>
              </a:rPr>
              <a:t>The Problem and </a:t>
            </a:r>
            <a:r>
              <a:rPr lang="en-US" sz="4700">
                <a:solidFill>
                  <a:srgbClr val="191919"/>
                </a:solidFill>
                <a:latin typeface="Mogra"/>
                <a:ea typeface="Mogra"/>
                <a:cs typeface="Mogra"/>
                <a:sym typeface="Mogra"/>
              </a:rPr>
              <a:t>Why Current Solutions Fail 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5605" y="3731114"/>
            <a:ext cx="5284630" cy="286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Traditional Platforms (e.g., MakeMyTrip, Expedia): 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Highly Disconnected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 Excellent for a single booking, but 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incapable of understanding contextual constraints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across a whole trip timeline.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39945" y="4248051"/>
            <a:ext cx="8241057" cy="491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Generic AI Chatbots (like ChatGPT) 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forget your rules.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If you give an AI a strict limit, like a strict budget or a strict "pure vegetarian only" diet, it often forgets that rule halfway through planning the trip.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They don't understand maps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AI generates text, not directions. It will happily suggest an impossible daily schedule that has you driving back and forth across a city for hours.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Popularity over Accuracy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They will suggest a famous steakhouse to a pure vegetarian simply because the restaurant is highly rated on the internet, completely ruining the usefulness of the itinerary.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5605" y="2034368"/>
            <a:ext cx="1355440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oblem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Planning multi-variable trips is a fragmented nightmare. Current LLMs treat trip planning as a creative writing exercise, frequently hallucinating spatial distances and ignoring hard user constraints.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9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6493" y="712932"/>
            <a:ext cx="15759519" cy="8861136"/>
          </a:xfrm>
          <a:custGeom>
            <a:avLst/>
            <a:gdLst/>
            <a:ahLst/>
            <a:cxnLst/>
            <a:rect r="r" b="b" t="t" l="l"/>
            <a:pathLst>
              <a:path h="8861136" w="15759519">
                <a:moveTo>
                  <a:pt x="0" y="0"/>
                </a:moveTo>
                <a:lnTo>
                  <a:pt x="15759519" y="0"/>
                </a:lnTo>
                <a:lnTo>
                  <a:pt x="15759519" y="8861136"/>
                </a:lnTo>
                <a:lnTo>
                  <a:pt x="0" y="886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105">
            <a:off x="-37785" y="5315261"/>
            <a:ext cx="2434683" cy="2208922"/>
          </a:xfrm>
          <a:custGeom>
            <a:avLst/>
            <a:gdLst/>
            <a:ahLst/>
            <a:cxnLst/>
            <a:rect r="r" b="b" t="t" l="l"/>
            <a:pathLst>
              <a:path h="2208922" w="2434683">
                <a:moveTo>
                  <a:pt x="0" y="0"/>
                </a:moveTo>
                <a:lnTo>
                  <a:pt x="2434683" y="0"/>
                </a:lnTo>
                <a:lnTo>
                  <a:pt x="2434683" y="2208922"/>
                </a:lnTo>
                <a:lnTo>
                  <a:pt x="0" y="2208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51565">
            <a:off x="16682636" y="7644202"/>
            <a:ext cx="1551670" cy="2239944"/>
          </a:xfrm>
          <a:custGeom>
            <a:avLst/>
            <a:gdLst/>
            <a:ahLst/>
            <a:cxnLst/>
            <a:rect r="r" b="b" t="t" l="l"/>
            <a:pathLst>
              <a:path h="2239944" w="1551670">
                <a:moveTo>
                  <a:pt x="0" y="0"/>
                </a:moveTo>
                <a:lnTo>
                  <a:pt x="1551671" y="0"/>
                </a:lnTo>
                <a:lnTo>
                  <a:pt x="1551671" y="2239944"/>
                </a:lnTo>
                <a:lnTo>
                  <a:pt x="0" y="22399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6066" y="7474815"/>
            <a:ext cx="2976321" cy="2976321"/>
          </a:xfrm>
          <a:custGeom>
            <a:avLst/>
            <a:gdLst/>
            <a:ahLst/>
            <a:cxnLst/>
            <a:rect r="r" b="b" t="t" l="l"/>
            <a:pathLst>
              <a:path h="2976321" w="2976321">
                <a:moveTo>
                  <a:pt x="0" y="0"/>
                </a:moveTo>
                <a:lnTo>
                  <a:pt x="2976321" y="0"/>
                </a:lnTo>
                <a:lnTo>
                  <a:pt x="2976321" y="2976321"/>
                </a:lnTo>
                <a:lnTo>
                  <a:pt x="0" y="29763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296785" y="1550401"/>
            <a:ext cx="3271424" cy="3271424"/>
          </a:xfrm>
          <a:custGeom>
            <a:avLst/>
            <a:gdLst/>
            <a:ahLst/>
            <a:cxnLst/>
            <a:rect r="r" b="b" t="t" l="l"/>
            <a:pathLst>
              <a:path h="3271424" w="3271424">
                <a:moveTo>
                  <a:pt x="0" y="0"/>
                </a:moveTo>
                <a:lnTo>
                  <a:pt x="3271423" y="0"/>
                </a:lnTo>
                <a:lnTo>
                  <a:pt x="3271423" y="3271423"/>
                </a:lnTo>
                <a:lnTo>
                  <a:pt x="0" y="32714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07800" y="5176355"/>
            <a:ext cx="3251200" cy="2124364"/>
          </a:xfrm>
          <a:custGeom>
            <a:avLst/>
            <a:gdLst/>
            <a:ahLst/>
            <a:cxnLst/>
            <a:rect r="r" b="b" t="t" l="l"/>
            <a:pathLst>
              <a:path h="2124364" w="3251200">
                <a:moveTo>
                  <a:pt x="0" y="0"/>
                </a:moveTo>
                <a:lnTo>
                  <a:pt x="3251200" y="0"/>
                </a:lnTo>
                <a:lnTo>
                  <a:pt x="3251200" y="2124364"/>
                </a:lnTo>
                <a:lnTo>
                  <a:pt x="0" y="21243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327" t="-25783" r="-10298" b="-58827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717506" y="962609"/>
            <a:ext cx="12560310" cy="1523416"/>
            <a:chOff x="0" y="0"/>
            <a:chExt cx="16747079" cy="203122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04775"/>
              <a:ext cx="16747079" cy="1133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20"/>
                </a:lnSpc>
              </a:pPr>
              <a:r>
                <a:rPr lang="en-US" sz="5100">
                  <a:solidFill>
                    <a:srgbClr val="000000"/>
                  </a:solidFill>
                  <a:latin typeface="Mogra"/>
                  <a:ea typeface="Mogra"/>
                  <a:cs typeface="Mogra"/>
                  <a:sym typeface="Mogra"/>
                </a:rPr>
                <a:t>Target Audience and market segment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498879"/>
              <a:ext cx="167470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4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64226" y="1776413"/>
            <a:ext cx="10632558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Diet-Strict Travelers</a:t>
            </a:r>
            <a:r>
              <a:rPr lang="en-US" sz="3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(e.g., Pure Vegetarian Jain) who cannot risk AI hallucinations sending them to a steakhouse.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4226" y="3568458"/>
            <a:ext cx="1063255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Budg</a:t>
            </a:r>
            <a:r>
              <a:rPr lang="en-US" b="true" sz="3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et-Strict Backpackers</a:t>
            </a:r>
            <a:r>
              <a:rPr lang="en-US" sz="3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Who need guaranteed price caps, not estimates.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8580" y="5166830"/>
            <a:ext cx="1031820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Log</a:t>
            </a:r>
            <a:r>
              <a:rPr lang="en-US" b="true" sz="3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istics</a:t>
            </a:r>
            <a:r>
              <a:rPr lang="en-US" sz="3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-Heavy Planners: Families or business travelers who need strict timeboxing.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4249" y="6765203"/>
            <a:ext cx="9966868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Bus</a:t>
            </a:r>
            <a:r>
              <a:rPr lang="en-US" b="true" sz="3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iness Sprinter: </a:t>
            </a:r>
            <a:r>
              <a:rPr lang="en-US" sz="3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Corporate travelers who have 24 hours to hit three client meetings, a dinner, and a hotel.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9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650843" y="1829500"/>
          <a:ext cx="16335492" cy="6076024"/>
        </p:xfrm>
        <a:graphic>
          <a:graphicData uri="http://schemas.openxmlformats.org/drawingml/2006/table">
            <a:tbl>
              <a:tblPr/>
              <a:tblGrid>
                <a:gridCol w="4167864"/>
                <a:gridCol w="3806544"/>
                <a:gridCol w="4167864"/>
                <a:gridCol w="3616375"/>
                <a:gridCol w="576845"/>
              </a:tblGrid>
              <a:tr h="161123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ogra"/>
                          <a:ea typeface="Mogra"/>
                          <a:cs typeface="Mogra"/>
                          <a:sym typeface="Mogra"/>
                        </a:rPr>
                        <a:t>MULTI-AGENT DELEGATION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ogra"/>
                          <a:ea typeface="Mogra"/>
                          <a:cs typeface="Mogra"/>
                          <a:sym typeface="Mogra"/>
                        </a:rPr>
                        <a:t>STRICT CONSTRAINT SATISFACTION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ogra"/>
                          <a:ea typeface="Mogra"/>
                          <a:cs typeface="Mogra"/>
                          <a:sym typeface="Mogra"/>
                        </a:rPr>
                        <a:t>ALGORITHMIC ROUTING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Mogra"/>
                          <a:ea typeface="Mogra"/>
                          <a:cs typeface="Mogra"/>
                          <a:sym typeface="Mogra"/>
                        </a:rPr>
                        <a:t>DELIVERABLES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4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94FF"/>
                    </a:solidFill>
                  </a:tcPr>
                </a:tc>
              </a:tr>
              <a:tr h="4464788">
                <a:tc>
                  <a:txBody>
                    <a:bodyPr anchor="t" rtlCol="false"/>
                    <a:lstStyle/>
                    <a:p>
                      <a:pPr algn="l" marL="474979" indent="-237490" lvl="1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191919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Specialized AI agents handle distinct verticals (Transit, Accommodation, Attractions,compil-ation) simultaneously.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74979" indent="-237490" lvl="1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>
                          <a:solidFill>
                            <a:srgbClr val="191919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 validation layer programmatically rejects an</a:t>
                      </a:r>
                      <a:r>
                        <a:rPr lang="en-US" sz="2199">
                          <a:solidFill>
                            <a:srgbClr val="191919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d re-prompts agent outputs that violate user parameters.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191919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Hybridizing AI discovery with dynamic programming to guarantee</a:t>
                      </a:r>
                      <a:r>
                        <a:rPr lang="en-US" sz="2000">
                          <a:solidFill>
                            <a:srgbClr val="191919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geographically optimal daily schedules.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000">
                          <a:solidFill>
                            <a:srgbClr val="191919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An interactive</a:t>
                      </a:r>
                      <a:r>
                        <a:rPr lang="en-US" sz="2000">
                          <a:solidFill>
                            <a:srgbClr val="191919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 3D WebGL map for spatial orientation and an exportable PDF for offline execution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431801" indent="-215900" lvl="1">
                        <a:lnSpc>
                          <a:spcPts val="2800"/>
                        </a:lnSpc>
                        <a:buFont typeface="Arial"/>
                        <a:buChar char="•"/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7894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-651102">
            <a:off x="159933" y="3243442"/>
            <a:ext cx="1737535" cy="941428"/>
          </a:xfrm>
          <a:custGeom>
            <a:avLst/>
            <a:gdLst/>
            <a:ahLst/>
            <a:cxnLst/>
            <a:rect r="r" b="b" t="t" l="l"/>
            <a:pathLst>
              <a:path h="941428" w="1737535">
                <a:moveTo>
                  <a:pt x="0" y="0"/>
                </a:moveTo>
                <a:lnTo>
                  <a:pt x="1737534" y="0"/>
                </a:lnTo>
                <a:lnTo>
                  <a:pt x="1737534" y="941428"/>
                </a:lnTo>
                <a:lnTo>
                  <a:pt x="0" y="9414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3082495">
            <a:off x="15861459" y="4041186"/>
            <a:ext cx="1821562" cy="1652654"/>
          </a:xfrm>
          <a:custGeom>
            <a:avLst/>
            <a:gdLst/>
            <a:ahLst/>
            <a:cxnLst/>
            <a:rect r="r" b="b" t="t" l="l"/>
            <a:pathLst>
              <a:path h="1652654" w="1821562">
                <a:moveTo>
                  <a:pt x="0" y="0"/>
                </a:moveTo>
                <a:lnTo>
                  <a:pt x="1821562" y="0"/>
                </a:lnTo>
                <a:lnTo>
                  <a:pt x="1821562" y="1652653"/>
                </a:lnTo>
                <a:lnTo>
                  <a:pt x="0" y="16526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36103">
            <a:off x="12300170" y="5997058"/>
            <a:ext cx="1177789" cy="1489159"/>
          </a:xfrm>
          <a:custGeom>
            <a:avLst/>
            <a:gdLst/>
            <a:ahLst/>
            <a:cxnLst/>
            <a:rect r="r" b="b" t="t" l="l"/>
            <a:pathLst>
              <a:path h="1489159" w="1177789">
                <a:moveTo>
                  <a:pt x="0" y="0"/>
                </a:moveTo>
                <a:lnTo>
                  <a:pt x="1177789" y="0"/>
                </a:lnTo>
                <a:lnTo>
                  <a:pt x="1177789" y="1489159"/>
                </a:lnTo>
                <a:lnTo>
                  <a:pt x="0" y="14891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979608">
            <a:off x="16319389" y="6914061"/>
            <a:ext cx="949477" cy="1335582"/>
          </a:xfrm>
          <a:custGeom>
            <a:avLst/>
            <a:gdLst/>
            <a:ahLst/>
            <a:cxnLst/>
            <a:rect r="r" b="b" t="t" l="l"/>
            <a:pathLst>
              <a:path h="1335582" w="949477">
                <a:moveTo>
                  <a:pt x="0" y="0"/>
                </a:moveTo>
                <a:lnTo>
                  <a:pt x="949478" y="0"/>
                </a:lnTo>
                <a:lnTo>
                  <a:pt x="949478" y="1335582"/>
                </a:lnTo>
                <a:lnTo>
                  <a:pt x="0" y="1335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70552" y="7865118"/>
            <a:ext cx="3181037" cy="2199235"/>
          </a:xfrm>
          <a:custGeom>
            <a:avLst/>
            <a:gdLst/>
            <a:ahLst/>
            <a:cxnLst/>
            <a:rect r="r" b="b" t="t" l="l"/>
            <a:pathLst>
              <a:path h="2199235" w="3181037">
                <a:moveTo>
                  <a:pt x="0" y="0"/>
                </a:moveTo>
                <a:lnTo>
                  <a:pt x="3181037" y="0"/>
                </a:lnTo>
                <a:lnTo>
                  <a:pt x="3181037" y="2199236"/>
                </a:lnTo>
                <a:lnTo>
                  <a:pt x="0" y="2199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6074" t="-8566" r="-6586" b="-7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34754" y="7905525"/>
            <a:ext cx="3448861" cy="2158829"/>
          </a:xfrm>
          <a:custGeom>
            <a:avLst/>
            <a:gdLst/>
            <a:ahLst/>
            <a:cxnLst/>
            <a:rect r="r" b="b" t="t" l="l"/>
            <a:pathLst>
              <a:path h="2158829" w="3448861">
                <a:moveTo>
                  <a:pt x="0" y="0"/>
                </a:moveTo>
                <a:lnTo>
                  <a:pt x="3448861" y="0"/>
                </a:lnTo>
                <a:lnTo>
                  <a:pt x="3448861" y="2158829"/>
                </a:lnTo>
                <a:lnTo>
                  <a:pt x="0" y="21588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2623" t="-6627" r="-31859" b="-4118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59831" y="7905525"/>
            <a:ext cx="2829234" cy="2286964"/>
          </a:xfrm>
          <a:custGeom>
            <a:avLst/>
            <a:gdLst/>
            <a:ahLst/>
            <a:cxnLst/>
            <a:rect r="r" b="b" t="t" l="l"/>
            <a:pathLst>
              <a:path h="2286964" w="2829234">
                <a:moveTo>
                  <a:pt x="0" y="0"/>
                </a:moveTo>
                <a:lnTo>
                  <a:pt x="2829233" y="0"/>
                </a:lnTo>
                <a:lnTo>
                  <a:pt x="2829233" y="2286963"/>
                </a:lnTo>
                <a:lnTo>
                  <a:pt x="0" y="2286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71678" t="-7205" r="-2789" b="-1270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36601" y="6607931"/>
            <a:ext cx="4721908" cy="4721908"/>
          </a:xfrm>
          <a:custGeom>
            <a:avLst/>
            <a:gdLst/>
            <a:ahLst/>
            <a:cxnLst/>
            <a:rect r="r" b="b" t="t" l="l"/>
            <a:pathLst>
              <a:path h="4721908" w="4721908">
                <a:moveTo>
                  <a:pt x="0" y="0"/>
                </a:moveTo>
                <a:lnTo>
                  <a:pt x="4721908" y="0"/>
                </a:lnTo>
                <a:lnTo>
                  <a:pt x="4721908" y="4721908"/>
                </a:lnTo>
                <a:lnTo>
                  <a:pt x="0" y="47219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4931" y="-18980"/>
            <a:ext cx="17368665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Mogra"/>
                <a:ea typeface="Mogra"/>
                <a:cs typeface="Mogra"/>
                <a:sym typeface="Mogra"/>
              </a:rPr>
              <a:t>Our Solution:</a:t>
            </a:r>
          </a:p>
          <a:p>
            <a:pPr algn="ctr">
              <a:lnSpc>
                <a:spcPts val="7800"/>
              </a:lnSpc>
            </a:pPr>
            <a:r>
              <a:rPr lang="en-US" sz="6500">
                <a:solidFill>
                  <a:srgbClr val="FFFFFF"/>
                </a:solidFill>
                <a:latin typeface="Mogra"/>
                <a:ea typeface="Mogra"/>
                <a:cs typeface="Mogra"/>
                <a:sym typeface="Mogra"/>
              </a:rPr>
              <a:t>The Orch</a:t>
            </a:r>
            <a:r>
              <a:rPr lang="en-US" sz="6500">
                <a:solidFill>
                  <a:srgbClr val="FFFFFF"/>
                </a:solidFill>
                <a:latin typeface="Mogra"/>
                <a:ea typeface="Mogra"/>
                <a:cs typeface="Mogra"/>
                <a:sym typeface="Mogra"/>
              </a:rPr>
              <a:t>estration Engine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9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61065" y="712932"/>
            <a:ext cx="15759519" cy="8861136"/>
          </a:xfrm>
          <a:custGeom>
            <a:avLst/>
            <a:gdLst/>
            <a:ahLst/>
            <a:cxnLst/>
            <a:rect r="r" b="b" t="t" l="l"/>
            <a:pathLst>
              <a:path h="8861136" w="15759519">
                <a:moveTo>
                  <a:pt x="0" y="0"/>
                </a:moveTo>
                <a:lnTo>
                  <a:pt x="15759519" y="0"/>
                </a:lnTo>
                <a:lnTo>
                  <a:pt x="15759519" y="8861136"/>
                </a:lnTo>
                <a:lnTo>
                  <a:pt x="0" y="8861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63845" y="1668001"/>
            <a:ext cx="12560310" cy="1523416"/>
            <a:chOff x="0" y="0"/>
            <a:chExt cx="16747079" cy="203122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6747079" cy="1133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20"/>
                </a:lnSpc>
              </a:pPr>
              <a:r>
                <a:rPr lang="en-US" sz="5100">
                  <a:solidFill>
                    <a:srgbClr val="FF699F"/>
                  </a:solidFill>
                  <a:latin typeface="Mogra"/>
                  <a:ea typeface="Mogra"/>
                  <a:cs typeface="Mogra"/>
                  <a:sym typeface="Mogra"/>
                </a:rPr>
                <a:t>Control Flow &amp; Systems Architecture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98879"/>
              <a:ext cx="167470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4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23105">
            <a:off x="-56276" y="5908087"/>
            <a:ext cx="2434683" cy="2208922"/>
          </a:xfrm>
          <a:custGeom>
            <a:avLst/>
            <a:gdLst/>
            <a:ahLst/>
            <a:cxnLst/>
            <a:rect r="r" b="b" t="t" l="l"/>
            <a:pathLst>
              <a:path h="2208922" w="2434683">
                <a:moveTo>
                  <a:pt x="0" y="0"/>
                </a:moveTo>
                <a:lnTo>
                  <a:pt x="2434683" y="0"/>
                </a:lnTo>
                <a:lnTo>
                  <a:pt x="2434683" y="2208921"/>
                </a:lnTo>
                <a:lnTo>
                  <a:pt x="0" y="2208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100538">
            <a:off x="16732831" y="4709824"/>
            <a:ext cx="726362" cy="2406622"/>
          </a:xfrm>
          <a:custGeom>
            <a:avLst/>
            <a:gdLst/>
            <a:ahLst/>
            <a:cxnLst/>
            <a:rect r="r" b="b" t="t" l="l"/>
            <a:pathLst>
              <a:path h="2406622" w="726362">
                <a:moveTo>
                  <a:pt x="0" y="0"/>
                </a:moveTo>
                <a:lnTo>
                  <a:pt x="726362" y="0"/>
                </a:lnTo>
                <a:lnTo>
                  <a:pt x="726362" y="2406622"/>
                </a:lnTo>
                <a:lnTo>
                  <a:pt x="0" y="2406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89306">
            <a:off x="781233" y="7806170"/>
            <a:ext cx="1362108" cy="1916008"/>
          </a:xfrm>
          <a:custGeom>
            <a:avLst/>
            <a:gdLst/>
            <a:ahLst/>
            <a:cxnLst/>
            <a:rect r="r" b="b" t="t" l="l"/>
            <a:pathLst>
              <a:path h="1916008" w="1362108">
                <a:moveTo>
                  <a:pt x="0" y="0"/>
                </a:moveTo>
                <a:lnTo>
                  <a:pt x="1362108" y="0"/>
                </a:lnTo>
                <a:lnTo>
                  <a:pt x="1362108" y="1916008"/>
                </a:lnTo>
                <a:lnTo>
                  <a:pt x="0" y="19160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51565">
            <a:off x="15733067" y="7644202"/>
            <a:ext cx="1551670" cy="2239944"/>
          </a:xfrm>
          <a:custGeom>
            <a:avLst/>
            <a:gdLst/>
            <a:ahLst/>
            <a:cxnLst/>
            <a:rect r="r" b="b" t="t" l="l"/>
            <a:pathLst>
              <a:path h="2239944" w="1551670">
                <a:moveTo>
                  <a:pt x="0" y="0"/>
                </a:moveTo>
                <a:lnTo>
                  <a:pt x="1551670" y="0"/>
                </a:lnTo>
                <a:lnTo>
                  <a:pt x="1551670" y="2239944"/>
                </a:lnTo>
                <a:lnTo>
                  <a:pt x="0" y="22399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713600">
            <a:off x="13699087" y="8057528"/>
            <a:ext cx="1298746" cy="1794749"/>
          </a:xfrm>
          <a:custGeom>
            <a:avLst/>
            <a:gdLst/>
            <a:ahLst/>
            <a:cxnLst/>
            <a:rect r="r" b="b" t="t" l="l"/>
            <a:pathLst>
              <a:path h="1794749" w="1298746">
                <a:moveTo>
                  <a:pt x="0" y="0"/>
                </a:moveTo>
                <a:lnTo>
                  <a:pt x="1298745" y="0"/>
                </a:lnTo>
                <a:lnTo>
                  <a:pt x="1298745" y="1794749"/>
                </a:lnTo>
                <a:lnTo>
                  <a:pt x="0" y="17947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95455">
            <a:off x="2971345" y="8667137"/>
            <a:ext cx="2182144" cy="1182325"/>
          </a:xfrm>
          <a:custGeom>
            <a:avLst/>
            <a:gdLst/>
            <a:ahLst/>
            <a:cxnLst/>
            <a:rect r="r" b="b" t="t" l="l"/>
            <a:pathLst>
              <a:path h="1182325" w="2182144">
                <a:moveTo>
                  <a:pt x="0" y="0"/>
                </a:moveTo>
                <a:lnTo>
                  <a:pt x="2182143" y="0"/>
                </a:lnTo>
                <a:lnTo>
                  <a:pt x="2182143" y="1182326"/>
                </a:lnTo>
                <a:lnTo>
                  <a:pt x="0" y="1182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85235" y="2521629"/>
            <a:ext cx="14721705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State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A Coordinator Agent maintains the master memory of user constraints on a Shared Task Board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5235" y="3537629"/>
            <a:ext cx="14487374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Flow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The system delegates tasks to parallel agents simultaneously. Using Zod schemas, it forces these agents to reply with strict, predictable JSON data rather than conversational text.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0397" y="4936363"/>
            <a:ext cx="13660295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Check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Agents use internal self-reflection loops (up to 3 iterations) to fix their own mistakes locally. 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final Strict Validation Layer then catches any remaining hallucinations and forces a re-computation if rules are broken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38464" y="6590272"/>
            <a:ext cx="13542227" cy="81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Math</a:t>
            </a: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Instead of letting the AI guess distances, a Deterministic Engine uses shortest-path algorithms to optimally order the itinerary based on real-world geography..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2058879">
            <a:off x="15484400" y="441869"/>
            <a:ext cx="1934852" cy="1934852"/>
          </a:xfrm>
          <a:custGeom>
            <a:avLst/>
            <a:gdLst/>
            <a:ahLst/>
            <a:cxnLst/>
            <a:rect r="r" b="b" t="t" l="l"/>
            <a:pathLst>
              <a:path h="1934852" w="1934852">
                <a:moveTo>
                  <a:pt x="0" y="0"/>
                </a:moveTo>
                <a:lnTo>
                  <a:pt x="1934852" y="0"/>
                </a:lnTo>
                <a:lnTo>
                  <a:pt x="1934852" y="1934852"/>
                </a:lnTo>
                <a:lnTo>
                  <a:pt x="0" y="19348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6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189306">
            <a:off x="781233" y="7806170"/>
            <a:ext cx="1362108" cy="1916008"/>
          </a:xfrm>
          <a:custGeom>
            <a:avLst/>
            <a:gdLst/>
            <a:ahLst/>
            <a:cxnLst/>
            <a:rect r="r" b="b" t="t" l="l"/>
            <a:pathLst>
              <a:path h="1916008" w="1362108">
                <a:moveTo>
                  <a:pt x="0" y="0"/>
                </a:moveTo>
                <a:lnTo>
                  <a:pt x="1362108" y="0"/>
                </a:lnTo>
                <a:lnTo>
                  <a:pt x="1362108" y="1916008"/>
                </a:lnTo>
                <a:lnTo>
                  <a:pt x="0" y="19160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51565">
            <a:off x="15733067" y="7644202"/>
            <a:ext cx="1551670" cy="2239944"/>
          </a:xfrm>
          <a:custGeom>
            <a:avLst/>
            <a:gdLst/>
            <a:ahLst/>
            <a:cxnLst/>
            <a:rect r="r" b="b" t="t" l="l"/>
            <a:pathLst>
              <a:path h="2239944" w="1551670">
                <a:moveTo>
                  <a:pt x="0" y="0"/>
                </a:moveTo>
                <a:lnTo>
                  <a:pt x="1551670" y="0"/>
                </a:lnTo>
                <a:lnTo>
                  <a:pt x="1551670" y="2239944"/>
                </a:lnTo>
                <a:lnTo>
                  <a:pt x="0" y="22399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95455">
            <a:off x="7851118" y="8667137"/>
            <a:ext cx="2182144" cy="1182325"/>
          </a:xfrm>
          <a:custGeom>
            <a:avLst/>
            <a:gdLst/>
            <a:ahLst/>
            <a:cxnLst/>
            <a:rect r="r" b="b" t="t" l="l"/>
            <a:pathLst>
              <a:path h="1182325" w="2182144">
                <a:moveTo>
                  <a:pt x="0" y="0"/>
                </a:moveTo>
                <a:lnTo>
                  <a:pt x="2182144" y="0"/>
                </a:lnTo>
                <a:lnTo>
                  <a:pt x="2182144" y="1182326"/>
                </a:lnTo>
                <a:lnTo>
                  <a:pt x="0" y="1182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-119055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9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2935" y="714670"/>
            <a:ext cx="15942130" cy="8857660"/>
          </a:xfrm>
          <a:custGeom>
            <a:avLst/>
            <a:gdLst/>
            <a:ahLst/>
            <a:cxnLst/>
            <a:rect r="r" b="b" t="t" l="l"/>
            <a:pathLst>
              <a:path h="8857660" w="15942130">
                <a:moveTo>
                  <a:pt x="0" y="0"/>
                </a:moveTo>
                <a:lnTo>
                  <a:pt x="15942130" y="0"/>
                </a:lnTo>
                <a:lnTo>
                  <a:pt x="15942130" y="8857660"/>
                </a:lnTo>
                <a:lnTo>
                  <a:pt x="0" y="88576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02403" y="1246202"/>
            <a:ext cx="11593047" cy="2525317"/>
            <a:chOff x="0" y="0"/>
            <a:chExt cx="15457397" cy="336709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15457397" cy="28487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33"/>
                </a:lnSpc>
              </a:pPr>
              <a:r>
                <a:rPr lang="en-US" sz="6694">
                  <a:solidFill>
                    <a:srgbClr val="1800AD"/>
                  </a:solidFill>
                  <a:latin typeface="Mogra"/>
                  <a:ea typeface="Mogra"/>
                  <a:cs typeface="Mogra"/>
                  <a:sym typeface="Mogra"/>
                </a:rPr>
                <a:t>Powering the Backend with Cline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903902"/>
              <a:ext cx="15457397" cy="4631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07049" y="3556455"/>
            <a:ext cx="4589172" cy="2577088"/>
          </a:xfrm>
          <a:custGeom>
            <a:avLst/>
            <a:gdLst/>
            <a:ahLst/>
            <a:cxnLst/>
            <a:rect r="r" b="b" t="t" l="l"/>
            <a:pathLst>
              <a:path h="2577088" w="4589172">
                <a:moveTo>
                  <a:pt x="0" y="0"/>
                </a:moveTo>
                <a:lnTo>
                  <a:pt x="4589171" y="0"/>
                </a:lnTo>
                <a:lnTo>
                  <a:pt x="4589171" y="2577088"/>
                </a:lnTo>
                <a:lnTo>
                  <a:pt x="0" y="2577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086421" y="6543692"/>
            <a:ext cx="5682276" cy="3157148"/>
          </a:xfrm>
          <a:custGeom>
            <a:avLst/>
            <a:gdLst/>
            <a:ahLst/>
            <a:cxnLst/>
            <a:rect r="r" b="b" t="t" l="l"/>
            <a:pathLst>
              <a:path h="3157148" w="5682276">
                <a:moveTo>
                  <a:pt x="0" y="0"/>
                </a:moveTo>
                <a:lnTo>
                  <a:pt x="5682276" y="0"/>
                </a:lnTo>
                <a:lnTo>
                  <a:pt x="5682276" y="3157148"/>
                </a:lnTo>
                <a:lnTo>
                  <a:pt x="0" y="31571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587960" y="3097748"/>
            <a:ext cx="4614981" cy="2596228"/>
          </a:xfrm>
          <a:custGeom>
            <a:avLst/>
            <a:gdLst/>
            <a:ahLst/>
            <a:cxnLst/>
            <a:rect r="r" b="b" t="t" l="l"/>
            <a:pathLst>
              <a:path h="2596228" w="4614981">
                <a:moveTo>
                  <a:pt x="0" y="0"/>
                </a:moveTo>
                <a:lnTo>
                  <a:pt x="4614981" y="0"/>
                </a:lnTo>
                <a:lnTo>
                  <a:pt x="4614981" y="2596228"/>
                </a:lnTo>
                <a:lnTo>
                  <a:pt x="0" y="25962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50157" y="1938200"/>
            <a:ext cx="3205300" cy="3205300"/>
          </a:xfrm>
          <a:custGeom>
            <a:avLst/>
            <a:gdLst/>
            <a:ahLst/>
            <a:cxnLst/>
            <a:rect r="r" b="b" t="t" l="l"/>
            <a:pathLst>
              <a:path h="3205300" w="3205300">
                <a:moveTo>
                  <a:pt x="0" y="0"/>
                </a:moveTo>
                <a:lnTo>
                  <a:pt x="3205300" y="0"/>
                </a:lnTo>
                <a:lnTo>
                  <a:pt x="3205300" y="3205300"/>
                </a:lnTo>
                <a:lnTo>
                  <a:pt x="0" y="3205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9506385" y="1953805"/>
            <a:ext cx="3205300" cy="3205300"/>
          </a:xfrm>
          <a:custGeom>
            <a:avLst/>
            <a:gdLst/>
            <a:ahLst/>
            <a:cxnLst/>
            <a:rect r="r" b="b" t="t" l="l"/>
            <a:pathLst>
              <a:path h="3205300" w="3205300">
                <a:moveTo>
                  <a:pt x="3205300" y="0"/>
                </a:moveTo>
                <a:lnTo>
                  <a:pt x="0" y="0"/>
                </a:lnTo>
                <a:lnTo>
                  <a:pt x="0" y="3205300"/>
                </a:lnTo>
                <a:lnTo>
                  <a:pt x="3205300" y="3205300"/>
                </a:lnTo>
                <a:lnTo>
                  <a:pt x="320530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731533" y="3097748"/>
            <a:ext cx="2392052" cy="2392052"/>
          </a:xfrm>
          <a:custGeom>
            <a:avLst/>
            <a:gdLst/>
            <a:ahLst/>
            <a:cxnLst/>
            <a:rect r="r" b="b" t="t" l="l"/>
            <a:pathLst>
              <a:path h="2392052" w="2392052">
                <a:moveTo>
                  <a:pt x="0" y="0"/>
                </a:moveTo>
                <a:lnTo>
                  <a:pt x="2392052" y="0"/>
                </a:lnTo>
                <a:lnTo>
                  <a:pt x="2392052" y="2392052"/>
                </a:lnTo>
                <a:lnTo>
                  <a:pt x="0" y="23920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64142" y="6156261"/>
            <a:ext cx="2906616" cy="2906616"/>
          </a:xfrm>
          <a:custGeom>
            <a:avLst/>
            <a:gdLst/>
            <a:ahLst/>
            <a:cxnLst/>
            <a:rect r="r" b="b" t="t" l="l"/>
            <a:pathLst>
              <a:path h="2906616" w="2906616">
                <a:moveTo>
                  <a:pt x="0" y="0"/>
                </a:moveTo>
                <a:lnTo>
                  <a:pt x="2906616" y="0"/>
                </a:lnTo>
                <a:lnTo>
                  <a:pt x="2906616" y="2906616"/>
                </a:lnTo>
                <a:lnTo>
                  <a:pt x="0" y="290661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768697" y="4986062"/>
            <a:ext cx="4968092" cy="4968092"/>
          </a:xfrm>
          <a:custGeom>
            <a:avLst/>
            <a:gdLst/>
            <a:ahLst/>
            <a:cxnLst/>
            <a:rect r="r" b="b" t="t" l="l"/>
            <a:pathLst>
              <a:path h="4968092" w="4968092">
                <a:moveTo>
                  <a:pt x="0" y="0"/>
                </a:moveTo>
                <a:lnTo>
                  <a:pt x="4968093" y="0"/>
                </a:lnTo>
                <a:lnTo>
                  <a:pt x="4968093" y="4968093"/>
                </a:lnTo>
                <a:lnTo>
                  <a:pt x="0" y="496809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9983" y="3752470"/>
            <a:ext cx="4244840" cy="194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8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@cline/core:</a:t>
            </a:r>
            <a:r>
              <a:rPr lang="en-US" sz="2375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Powers the stateful Coordinator Agent, maintaining master memory and managing the token budget.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11685" y="3248566"/>
            <a:ext cx="4367531" cy="2275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b="true" sz="232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@cline/agents</a:t>
            </a:r>
            <a:r>
              <a:rPr lang="en-US" sz="232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: Executes the stateless worker swarm (Flight, Hotel, Places) to hit APIs, return structured JSON, and terminate immediately to save memory.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78022" y="6804025"/>
            <a:ext cx="5299073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Routing:</a:t>
            </a: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Using </a:t>
            </a:r>
            <a:r>
              <a:rPr lang="en-US" b="true" sz="249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@cline/llms</a:t>
            </a:r>
            <a:r>
              <a:rPr lang="en-US" sz="24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to strategically route complex planning to heavier models while offloading simple data-fetching to faster, cheaper models.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5" y="0"/>
                </a:lnTo>
                <a:lnTo>
                  <a:pt x="1829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8288000" y="5767617"/>
            <a:ext cx="3949489" cy="65145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6087" y="6657776"/>
            <a:ext cx="5621407" cy="3573608"/>
          </a:xfrm>
          <a:custGeom>
            <a:avLst/>
            <a:gdLst/>
            <a:ahLst/>
            <a:cxnLst/>
            <a:rect r="r" b="b" t="t" l="l"/>
            <a:pathLst>
              <a:path h="3573608" w="5621407">
                <a:moveTo>
                  <a:pt x="0" y="0"/>
                </a:moveTo>
                <a:lnTo>
                  <a:pt x="5621407" y="0"/>
                </a:lnTo>
                <a:lnTo>
                  <a:pt x="5621407" y="3573608"/>
                </a:lnTo>
                <a:lnTo>
                  <a:pt x="0" y="3573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74" t="0" r="-11086" b="-54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97653" y="-820356"/>
            <a:ext cx="4818664" cy="5189330"/>
          </a:xfrm>
          <a:custGeom>
            <a:avLst/>
            <a:gdLst/>
            <a:ahLst/>
            <a:cxnLst/>
            <a:rect r="r" b="b" t="t" l="l"/>
            <a:pathLst>
              <a:path h="5189330" w="4818664">
                <a:moveTo>
                  <a:pt x="0" y="0"/>
                </a:moveTo>
                <a:lnTo>
                  <a:pt x="4818664" y="0"/>
                </a:lnTo>
                <a:lnTo>
                  <a:pt x="4818664" y="5189330"/>
                </a:lnTo>
                <a:lnTo>
                  <a:pt x="0" y="518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97511" y="4441822"/>
            <a:ext cx="7422014" cy="1436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0"/>
              </a:lnSpc>
              <a:spcBef>
                <a:spcPct val="0"/>
              </a:spcBef>
            </a:pPr>
            <a:r>
              <a:rPr lang="en-US" b="true" sz="29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93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ctionable Outputs:</a:t>
            </a:r>
            <a:r>
              <a:rPr lang="en-US" sz="293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Generates a ready-to-use, day-by-day exportable PDF and an interactive 3D mapped route.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99908" y="3130462"/>
            <a:ext cx="3788092" cy="3788092"/>
          </a:xfrm>
          <a:custGeom>
            <a:avLst/>
            <a:gdLst/>
            <a:ahLst/>
            <a:cxnLst/>
            <a:rect r="r" b="b" t="t" l="l"/>
            <a:pathLst>
              <a:path h="3788092" w="3788092">
                <a:moveTo>
                  <a:pt x="0" y="0"/>
                </a:moveTo>
                <a:lnTo>
                  <a:pt x="3788092" y="0"/>
                </a:lnTo>
                <a:lnTo>
                  <a:pt x="3788092" y="3788092"/>
                </a:lnTo>
                <a:lnTo>
                  <a:pt x="0" y="37880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414019" y="7055518"/>
            <a:ext cx="2873981" cy="2873981"/>
          </a:xfrm>
          <a:custGeom>
            <a:avLst/>
            <a:gdLst/>
            <a:ahLst/>
            <a:cxnLst/>
            <a:rect r="r" b="b" t="t" l="l"/>
            <a:pathLst>
              <a:path h="2873981" w="2873981">
                <a:moveTo>
                  <a:pt x="0" y="0"/>
                </a:moveTo>
                <a:lnTo>
                  <a:pt x="2873981" y="0"/>
                </a:lnTo>
                <a:lnTo>
                  <a:pt x="2873981" y="2873982"/>
                </a:lnTo>
                <a:lnTo>
                  <a:pt x="0" y="28739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6845" y="100220"/>
            <a:ext cx="6263199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191919"/>
                </a:solidFill>
                <a:latin typeface="Mogra"/>
                <a:ea typeface="Mogra"/>
                <a:cs typeface="Mogra"/>
                <a:sym typeface="Mogra"/>
              </a:rPr>
              <a:t>Core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087" y="1547254"/>
            <a:ext cx="6664569" cy="174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Constraint-First Engine: 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Translates natural language into unbreakable rules (e.g., locking in 100% Pure Vegetarian dining or strict budget caps).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50758" y="4340399"/>
            <a:ext cx="6931414" cy="174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Para</a:t>
            </a: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llel Multi-Agent Planning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Dedicated worker agents (Transit, Hotel, Places) process itinerary components simultaneously for maximum speed.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04136" y="412509"/>
            <a:ext cx="8528538" cy="228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</a:t>
            </a: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eractive Human-in-the-Loop: 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Agents autonomously pause and query the user for clarification if critical data is missing, completely eliminating the need for AI guesswork or assumptions.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92068" y="7318604"/>
            <a:ext cx="7921950" cy="202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7"/>
              </a:lnSpc>
              <a:spcBef>
                <a:spcPct val="0"/>
              </a:spcBef>
            </a:pPr>
            <a:r>
              <a:rPr lang="en-US" b="true" sz="312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</a:t>
            </a:r>
            <a:r>
              <a:rPr lang="en-US" b="true" sz="3128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terministic Route Optimization</a:t>
            </a:r>
            <a:r>
              <a:rPr lang="en-US" sz="3128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Uses graph algorithms to mathematically sequence locations, eliminating inefficient "zigzagging" across the city.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9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487" y="376507"/>
            <a:ext cx="16956182" cy="9533987"/>
          </a:xfrm>
          <a:custGeom>
            <a:avLst/>
            <a:gdLst/>
            <a:ahLst/>
            <a:cxnLst/>
            <a:rect r="r" b="b" t="t" l="l"/>
            <a:pathLst>
              <a:path h="9533987" w="16956182">
                <a:moveTo>
                  <a:pt x="0" y="0"/>
                </a:moveTo>
                <a:lnTo>
                  <a:pt x="16956182" y="0"/>
                </a:lnTo>
                <a:lnTo>
                  <a:pt x="16956182" y="9533986"/>
                </a:lnTo>
                <a:lnTo>
                  <a:pt x="0" y="95339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63845" y="647587"/>
            <a:ext cx="12560310" cy="1523416"/>
            <a:chOff x="0" y="0"/>
            <a:chExt cx="16747079" cy="2031221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6747079" cy="1133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20"/>
                </a:lnSpc>
              </a:pPr>
              <a:r>
                <a:rPr lang="en-US" sz="5100">
                  <a:solidFill>
                    <a:srgbClr val="FF699F"/>
                  </a:solidFill>
                  <a:latin typeface="Mogra"/>
                  <a:ea typeface="Mogra"/>
                  <a:cs typeface="Mogra"/>
                  <a:sym typeface="Mogra"/>
                </a:rPr>
                <a:t>MVP</a:t>
              </a:r>
              <a:r>
                <a:rPr lang="en-US" sz="5100">
                  <a:solidFill>
                    <a:srgbClr val="FF699F"/>
                  </a:solidFill>
                  <a:latin typeface="Mogra"/>
                  <a:ea typeface="Mogra"/>
                  <a:cs typeface="Mogra"/>
                  <a:sym typeface="Mogra"/>
                </a:rPr>
                <a:t> Scope for Stage 2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98879"/>
              <a:ext cx="16747079" cy="532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24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265091"/>
            <a:ext cx="14721705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1: Core Orch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estration &amp; Ingestion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Initialize the @cline/core Coordinator Agent.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Build the "Zero-UI" NLP parser to silently extract and lock in rigid constraints (e.g., Budget caps, Pure Veg requirements).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</a:p>
          <a:p>
            <a:pPr algn="l">
              <a:lnSpc>
                <a:spcPts val="3249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2058879">
            <a:off x="15484400" y="441869"/>
            <a:ext cx="1934852" cy="1934852"/>
          </a:xfrm>
          <a:custGeom>
            <a:avLst/>
            <a:gdLst/>
            <a:ahLst/>
            <a:cxnLst/>
            <a:rect r="r" b="b" t="t" l="l"/>
            <a:pathLst>
              <a:path h="1934852" w="1934852">
                <a:moveTo>
                  <a:pt x="0" y="0"/>
                </a:moveTo>
                <a:lnTo>
                  <a:pt x="1934852" y="0"/>
                </a:lnTo>
                <a:lnTo>
                  <a:pt x="1934852" y="1934852"/>
                </a:lnTo>
                <a:lnTo>
                  <a:pt x="0" y="19348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177315"/>
            <a:ext cx="14721705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2: The Ag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ent Fleet &amp; HITL Integration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Deploy parallel Worker Agents (Places &amp; Hotel) using @cline/agents.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Enforce strict data structures using Zod-schema APIs to eliminate text-based hallucinations.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Implement the Human-in-the-Loop (HITL) trigger so agents can autonomously ask clarifying questions for ambiguous prompts.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797504"/>
            <a:ext cx="14721705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3: Va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lidation &amp; Algorithmic Routing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Code the Strict Validation Layer to programmatically reject outputs that violate user constraints.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Integrate the Deterministic Engine (TSP logic) to geographically sort locations and eliminate inefficient zigzagging.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865793"/>
            <a:ext cx="14721705" cy="204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Milestone 4: Syn</a:t>
            </a:r>
            <a:r>
              <a:rPr lang="en-US" b="true" sz="24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thesis &amp; Visualization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Render the validated JSON output into a clean, functional Day-by-Day Itinerary UI.</a:t>
            </a:r>
          </a:p>
          <a:p>
            <a:pPr algn="l" marL="539749" indent="-269875" lvl="1">
              <a:lnSpc>
                <a:spcPts val="32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Connect the data to a basic interactive map view (e.g., Mapbox or Google Maps) to visually prove the optimized routing.</a:t>
            </a:r>
          </a:p>
          <a:p>
            <a:pPr algn="l">
              <a:lnSpc>
                <a:spcPts val="32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0"/>
            <a:ext cx="18297525" cy="10287000"/>
          </a:xfrm>
          <a:custGeom>
            <a:avLst/>
            <a:gdLst/>
            <a:ahLst/>
            <a:cxnLst/>
            <a:rect r="r" b="b" t="t" l="l"/>
            <a:pathLst>
              <a:path h="10287000" w="18297525">
                <a:moveTo>
                  <a:pt x="0" y="0"/>
                </a:moveTo>
                <a:lnTo>
                  <a:pt x="18297525" y="0"/>
                </a:lnTo>
                <a:lnTo>
                  <a:pt x="1829752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9525" y="7616060"/>
            <a:ext cx="18297525" cy="2670940"/>
          </a:xfrm>
          <a:prstGeom prst="rect">
            <a:avLst/>
          </a:prstGeom>
          <a:solidFill>
            <a:srgbClr val="1800AD"/>
          </a:solidFill>
        </p:spPr>
      </p:sp>
      <p:sp>
        <p:nvSpPr>
          <p:cNvPr name="AutoShape 4" id="4"/>
          <p:cNvSpPr/>
          <p:nvPr/>
        </p:nvSpPr>
        <p:spPr>
          <a:xfrm rot="0">
            <a:off x="18288000" y="5767617"/>
            <a:ext cx="3949489" cy="651455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2348279" y="4894001"/>
            <a:ext cx="2331478" cy="2331478"/>
          </a:xfrm>
          <a:custGeom>
            <a:avLst/>
            <a:gdLst/>
            <a:ahLst/>
            <a:cxnLst/>
            <a:rect r="r" b="b" t="t" l="l"/>
            <a:pathLst>
              <a:path h="2331478" w="2331478">
                <a:moveTo>
                  <a:pt x="0" y="0"/>
                </a:moveTo>
                <a:lnTo>
                  <a:pt x="2331478" y="0"/>
                </a:lnTo>
                <a:lnTo>
                  <a:pt x="2331478" y="2331478"/>
                </a:lnTo>
                <a:lnTo>
                  <a:pt x="0" y="2331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209944" y="2085975"/>
            <a:ext cx="2472094" cy="2472094"/>
          </a:xfrm>
          <a:custGeom>
            <a:avLst/>
            <a:gdLst/>
            <a:ahLst/>
            <a:cxnLst/>
            <a:rect r="r" b="b" t="t" l="l"/>
            <a:pathLst>
              <a:path h="2472094" w="2472094">
                <a:moveTo>
                  <a:pt x="0" y="0"/>
                </a:moveTo>
                <a:lnTo>
                  <a:pt x="2472093" y="0"/>
                </a:lnTo>
                <a:lnTo>
                  <a:pt x="2472093" y="2472094"/>
                </a:lnTo>
                <a:lnTo>
                  <a:pt x="0" y="2472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59783" y="6613503"/>
            <a:ext cx="11836348" cy="4084234"/>
          </a:xfrm>
          <a:custGeom>
            <a:avLst/>
            <a:gdLst/>
            <a:ahLst/>
            <a:cxnLst/>
            <a:rect r="r" b="b" t="t" l="l"/>
            <a:pathLst>
              <a:path h="4084234" w="11836348">
                <a:moveTo>
                  <a:pt x="0" y="0"/>
                </a:moveTo>
                <a:lnTo>
                  <a:pt x="11836349" y="0"/>
                </a:lnTo>
                <a:lnTo>
                  <a:pt x="11836349" y="4084234"/>
                </a:lnTo>
                <a:lnTo>
                  <a:pt x="0" y="40842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6454" r="0" b="-9335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45527" y="5143500"/>
            <a:ext cx="2360488" cy="2360488"/>
          </a:xfrm>
          <a:custGeom>
            <a:avLst/>
            <a:gdLst/>
            <a:ahLst/>
            <a:cxnLst/>
            <a:rect r="r" b="b" t="t" l="l"/>
            <a:pathLst>
              <a:path h="2360488" w="2360488">
                <a:moveTo>
                  <a:pt x="0" y="0"/>
                </a:moveTo>
                <a:lnTo>
                  <a:pt x="2360488" y="0"/>
                </a:lnTo>
                <a:lnTo>
                  <a:pt x="2360488" y="2360488"/>
                </a:lnTo>
                <a:lnTo>
                  <a:pt x="0" y="23604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3937" y="895350"/>
            <a:ext cx="13771452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191919"/>
                </a:solidFill>
                <a:latin typeface="Mogra"/>
                <a:ea typeface="Mogra"/>
                <a:cs typeface="Mogra"/>
                <a:sym typeface="Mogra"/>
              </a:rPr>
              <a:t>Sc</a:t>
            </a:r>
            <a:r>
              <a:rPr lang="en-US" sz="6999">
                <a:solidFill>
                  <a:srgbClr val="191919"/>
                </a:solidFill>
                <a:latin typeface="Mogra"/>
                <a:ea typeface="Mogra"/>
                <a:cs typeface="Mogra"/>
                <a:sym typeface="Mogra"/>
              </a:rPr>
              <a:t>alability &amp; Competitive Edge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1788" y="2318385"/>
            <a:ext cx="5996354" cy="218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Compute Efficiency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Utilizing stateless worker agents avoids the exponential token-cost explosion typical of continuous multi-agent frameworks.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24097" y="5168774"/>
            <a:ext cx="8159262" cy="1831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Deterministic Reliability</a:t>
            </a: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Offloading the Traveling Salesperson Problem dynamic programming algorithm guarantees 100% routing accuracy.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2037" y="2405894"/>
            <a:ext cx="7121769" cy="218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Extensibility</a:t>
            </a:r>
            <a:r>
              <a:rPr lang="en-US" sz="2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The modular SDK architecture means adding a new vertical (like a "Rental Car Agent") requires zero changes to the underlying Coordinator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DAHW4FKQfVc</dc:identifier>
  <dcterms:modified xsi:type="dcterms:W3CDTF">2011-08-01T06:04:30Z</dcterms:modified>
  <cp:revision>1</cp:revision>
  <dc:title>OptiRoute</dc:title>
</cp:coreProperties>
</file>